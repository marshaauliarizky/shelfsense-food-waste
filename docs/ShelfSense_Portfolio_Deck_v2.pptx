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elfsens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0"/>
            <a:ext cx="3246120" cy="5166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25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960120"/>
            <a:ext cx="192024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SHELF
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331720"/>
            <a:ext cx="20116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D5E2D7"/>
                </a:solidFill>
                <a:latin typeface="Aptos"/>
              </a:rPr>
              <a:t>Food waste prevention
and markdown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48638"/>
                </a:solidFill>
                <a:latin typeface="Aptos"/>
              </a:rPr>
              <a:t>Portfolio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93776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243029"/>
                </a:solidFill>
                <a:latin typeface="Aptos"/>
              </a:rPr>
              <a:t>What should sell,
what may spoil,
and what to do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4206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68746C"/>
                </a:solidFill>
                <a:latin typeface="Aptos"/>
              </a:rPr>
              <a:t>A practical Streamlit dashboard for bakery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06440"/>
            <a:ext cx="49377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68746C"/>
                </a:solidFill>
                <a:latin typeface="Aptos"/>
              </a:rPr>
              <a:t>Built with Python, Pandas, SQLite, Plotly, and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5303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587568"/>
                </a:solidFill>
                <a:latin typeface="Aptos"/>
              </a:rPr>
              <a:t>Live demo: shelfsense-food-waste.streamlit.app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5097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243029"/>
                </a:solidFill>
                <a:latin typeface="Aptos"/>
              </a:rPr>
              <a:t>The operating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96926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8746C"/>
                </a:solidFill>
                <a:latin typeface="Aptos"/>
              </a:rPr>
              <a:t>Perishable inventory creates a trade off between availability and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475488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000" b="0">
                <a:solidFill>
                  <a:srgbClr val="243029"/>
                </a:solidFill>
                <a:latin typeface="Aptos"/>
              </a:rPr>
              <a:t>Bakery teams need to make decisions before products expire. A useful tool has to show the evidence behind the decision, not only a final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88920"/>
            <a:ext cx="2423160" cy="1417320"/>
          </a:xfrm>
          <a:prstGeom prst="roundRect">
            <a:avLst/>
          </a:prstGeom>
          <a:solidFill>
            <a:srgbClr val="EBF2EC"/>
          </a:solidFill>
          <a:ln w="10160">
            <a:solidFill>
              <a:srgbClr val="CB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06324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243029"/>
                </a:solidFill>
                <a:latin typeface="Aptos"/>
              </a:rPr>
              <a:t>Too much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20440"/>
            <a:ext cx="17830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68746C"/>
                </a:solidFill>
                <a:latin typeface="Aptos"/>
              </a:rPr>
              <a:t>Creates surplus stock
and higher waste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788920"/>
            <a:ext cx="2423160" cy="141732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E7D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306324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243029"/>
                </a:solidFill>
                <a:latin typeface="Aptos"/>
              </a:rPr>
              <a:t>Too little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3520440"/>
            <a:ext cx="17830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68746C"/>
                </a:solidFill>
                <a:latin typeface="Aptos"/>
              </a:rPr>
              <a:t>Increases stockout risk
and missed sales</a:t>
            </a:r>
          </a:p>
        </p:txBody>
      </p:sp>
      <p:pic>
        <p:nvPicPr>
          <p:cNvPr id="11" name="Picture 10" descr="bakery-product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08760"/>
            <a:ext cx="416052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20840" y="4709160"/>
            <a:ext cx="41605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68746C"/>
                </a:solidFill>
                <a:latin typeface="Aptos"/>
              </a:rPr>
              <a:t>ShelfSense keeps the decision visible: production, sales, stock, expiry, waste, and markdown are read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43891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8746C"/>
                </a:solidFill>
                <a:latin typeface="Aptos"/>
              </a:rPr>
              <a:t>ShelfSense  | 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68746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5097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243029"/>
                </a:solidFill>
                <a:latin typeface="Aptos"/>
              </a:rPr>
              <a:t>The dashboard in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96926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8746C"/>
                </a:solidFill>
                <a:latin typeface="Aptos"/>
              </a:rPr>
              <a:t>A manager starts with the current operational picture</a:t>
            </a:r>
          </a:p>
        </p:txBody>
      </p:sp>
      <p:pic>
        <p:nvPicPr>
          <p:cNvPr id="4" name="Picture 3" descr="01_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49224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600200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243029"/>
                </a:solidFill>
                <a:latin typeface="Aptos"/>
              </a:rPr>
              <a:t>The home screen answers three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2148840"/>
            <a:ext cx="365760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243029"/>
                </a:solidFill>
                <a:latin typeface="Aptos"/>
              </a:rPr>
              <a:t>1  How much was produced and sold?
2  Where is waste moving?
3  Which product needs attention before expiry?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4754880"/>
            <a:ext cx="35661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68746C"/>
                </a:solidFill>
                <a:latin typeface="Aptos"/>
              </a:rPr>
              <a:t>The Branch and As of filters keep the view grounded in a specific operating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3891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8746C"/>
                </a:solidFill>
                <a:latin typeface="Aptos"/>
              </a:rPr>
              <a:t>ShelfSense  | 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68746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5097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243029"/>
                </a:solidFill>
                <a:latin typeface="Aptos"/>
              </a:rPr>
              <a:t>The analysis behind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96926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8746C"/>
                </a:solidFill>
                <a:latin typeface="Aptos"/>
              </a:rPr>
              <a:t>Simple formulas keep the recommendations explainable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243029"/>
                </a:solidFill>
                <a:latin typeface="Aptos"/>
              </a:rPr>
              <a:t>Sold-through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591056"/>
            <a:ext cx="3291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68746C"/>
                </a:solidFill>
                <a:latin typeface="Aptos"/>
              </a:rPr>
              <a:t>sold quantity / production quantity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6035040" cy="9144"/>
          </a:xfrm>
          <a:prstGeom prst="rect">
            <a:avLst/>
          </a:prstGeom>
          <a:solidFill>
            <a:srgbClr val="E0E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243029"/>
                </a:solidFill>
                <a:latin typeface="Aptos"/>
              </a:rPr>
              <a:t>Waste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505456"/>
            <a:ext cx="3291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68746C"/>
                </a:solidFill>
                <a:latin typeface="Aptos"/>
              </a:rPr>
              <a:t>waste quantity / production quantity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90087"/>
            <a:ext cx="6035040" cy="9144"/>
          </a:xfrm>
          <a:prstGeom prst="rect">
            <a:avLst/>
          </a:prstGeom>
          <a:solidFill>
            <a:srgbClr val="E0E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0156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243029"/>
                </a:solidFill>
                <a:latin typeface="Aptos"/>
              </a:rPr>
              <a:t>Estimated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19856"/>
            <a:ext cx="3291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68746C"/>
                </a:solidFill>
                <a:latin typeface="Aptos"/>
              </a:rPr>
              <a:t>waste quantity × unit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04487"/>
            <a:ext cx="6035040" cy="9144"/>
          </a:xfrm>
          <a:prstGeom prst="rect">
            <a:avLst/>
          </a:prstGeom>
          <a:solidFill>
            <a:srgbClr val="E0E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1596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243029"/>
                </a:solidFill>
                <a:latin typeface="Aptos"/>
              </a:rPr>
              <a:t>Stock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334255"/>
            <a:ext cx="3291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68746C"/>
                </a:solidFill>
                <a:latin typeface="Aptos"/>
              </a:rPr>
              <a:t>current stock − demand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18888"/>
            <a:ext cx="6035040" cy="9144"/>
          </a:xfrm>
          <a:prstGeom prst="rect">
            <a:avLst/>
          </a:prstGeom>
          <a:solidFill>
            <a:srgbClr val="E0E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art-sales-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536192"/>
            <a:ext cx="3383280" cy="2148840"/>
          </a:xfrm>
          <a:prstGeom prst="rect">
            <a:avLst/>
          </a:prstGeom>
        </p:spPr>
      </p:pic>
      <p:pic>
        <p:nvPicPr>
          <p:cNvPr id="17" name="Picture 16" descr="chart-waste-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86200"/>
            <a:ext cx="3383280" cy="2148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510528"/>
            <a:ext cx="43891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8746C"/>
                </a:solidFill>
                <a:latin typeface="Aptos"/>
              </a:rPr>
              <a:t>ShelfSense  |  Portfolio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68746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5097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243029"/>
                </a:solidFill>
                <a:latin typeface="Aptos"/>
              </a:rPr>
              <a:t>From transaction to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96926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8746C"/>
                </a:solidFill>
                <a:latin typeface="Aptos"/>
              </a:rPr>
              <a:t>The pipeline keeps data, rules, and presentation separate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31720"/>
            <a:ext cx="162763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52374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4863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907792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243029"/>
                </a:solidFill>
                <a:latin typeface="Aptos"/>
              </a:rPr>
              <a:t>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36499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8746C"/>
                </a:solidFill>
                <a:latin typeface="Aptos"/>
              </a:rPr>
              <a:t>Incoming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2331720"/>
            <a:ext cx="162763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252374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4863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4" y="2907792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243029"/>
                </a:solidFill>
                <a:latin typeface="Aptos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336499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8746C"/>
                </a:solidFill>
                <a:latin typeface="Aptos"/>
              </a:rPr>
              <a:t>Clean rows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331720"/>
            <a:ext cx="162763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52374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4863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907792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243029"/>
                </a:solidFill>
                <a:latin typeface="Aptos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36499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8746C"/>
                </a:solidFill>
                <a:latin typeface="Aptos"/>
              </a:rPr>
              <a:t>Local source of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331720"/>
            <a:ext cx="162763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52374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4863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907792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243029"/>
                </a:solidFill>
                <a:latin typeface="Aptos"/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36499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8746C"/>
                </a:solidFill>
                <a:latin typeface="Aptos"/>
              </a:rPr>
              <a:t>KPI and demand 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2331720"/>
            <a:ext cx="162763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52374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48638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07792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243029"/>
                </a:solidFill>
                <a:latin typeface="Aptos"/>
              </a:rPr>
              <a:t>Decision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36499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8746C"/>
                </a:solidFill>
                <a:latin typeface="Aptos"/>
              </a:rPr>
              <a:t>Markdown and production 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2331720"/>
            <a:ext cx="162763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252374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C48638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8712" y="2907792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243029"/>
                </a:solidFill>
                <a:latin typeface="Aptos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2" y="336499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8746C"/>
                </a:solidFill>
                <a:latin typeface="Aptos"/>
              </a:rPr>
              <a:t>Manager view and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2412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0">
                <a:solidFill>
                  <a:srgbClr val="68746C"/>
                </a:solidFill>
                <a:latin typeface="Aptos"/>
              </a:rPr>
              <a:t>This separation makes the project easier to test and extend. A rule can change without rewriting the interface, and the interface can evolve without changing the database schema.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43891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8746C"/>
                </a:solidFill>
                <a:latin typeface="Aptos"/>
              </a:rPr>
              <a:t>ShelfSense  |  Portfolio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10528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68746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5097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243029"/>
                </a:solidFill>
                <a:latin typeface="Aptos"/>
              </a:rPr>
              <a:t>Excel upload and 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96926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8746C"/>
                </a:solidFill>
                <a:latin typeface="Aptos"/>
              </a:rPr>
              <a:t>The upload flow is part of the product, not an afterthought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243029"/>
                </a:solidFill>
                <a:latin typeface="Aptos"/>
              </a:rPr>
              <a:t>A new workbook is checked before it can change the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52120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68746C"/>
                </a:solidFill>
                <a:latin typeface="Aptos"/>
              </a:rPr>
              <a:t>The system checks required columns, dates, numeric values, negative quantities, duplicate transaction IDs, discount ranges, and production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657600"/>
            <a:ext cx="4983480" cy="1005840"/>
          </a:xfrm>
          <a:prstGeom prst="roundRect">
            <a:avLst/>
          </a:prstGeom>
          <a:solidFill>
            <a:srgbClr val="EBF2EC"/>
          </a:solidFill>
          <a:ln w="10160">
            <a:solidFill>
              <a:srgbClr val="CB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13632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243029"/>
                </a:solidFill>
                <a:latin typeface="Aptos"/>
              </a:rPr>
              <a:t>Only valid rows are inserted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79392"/>
            <a:ext cx="34747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68746C"/>
                </a:solidFill>
                <a:latin typeface="Aptos"/>
              </a:rPr>
              <a:t>The dashboard then refreshes from SQLite.</a:t>
            </a:r>
          </a:p>
        </p:txBody>
      </p:sp>
      <p:pic>
        <p:nvPicPr>
          <p:cNvPr id="9" name="Picture 8" descr="impor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4800600" cy="461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43891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8746C"/>
                </a:solidFill>
                <a:latin typeface="Aptos"/>
              </a:rPr>
              <a:t>ShelfSense  | 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68746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7498079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61872"/>
            <a:ext cx="7680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D5E2D7"/>
                </a:solidFill>
                <a:latin typeface="Aptos"/>
              </a:rPr>
              <a:t>A portfolio project should show judgment as well as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7432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DATA
Simulated data with clear assumptions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31720"/>
            <a:ext cx="283464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DECISIONS
Explainable rules connect metrics to manager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331720"/>
            <a:ext cx="283464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DELIVERY
A usable dashboard, exportable workbook, tests, and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0">
                <a:solidFill>
                  <a:srgbClr val="D5E2D7"/>
                </a:solidFill>
                <a:latin typeface="Aptos"/>
              </a:rPr>
              <a:t>Current scope: local MVP with SQLite and a moving average baseline. The next production steps are authenticated access, a managed database, validated forecasting, and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3891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8746C"/>
                </a:solidFill>
                <a:latin typeface="Aptos"/>
              </a:rPr>
              <a:t>ShelfSense  | 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68746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Thank you for exploring ShelfSense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96596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0">
                <a:solidFill>
                  <a:srgbClr val="D5E2D7"/>
                </a:solidFill>
                <a:latin typeface="Aptos"/>
              </a:rPr>
              <a:t>See the working dashboard and explore the decision flow in the live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880360"/>
            <a:ext cx="8503920" cy="1234440"/>
          </a:xfrm>
          <a:prstGeom prst="roundRect">
            <a:avLst/>
          </a:prstGeom>
          <a:solidFill>
            <a:srgbClr val="34483D"/>
          </a:solidFill>
          <a:ln w="10160">
            <a:solidFill>
              <a:srgbClr val="587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48840" y="315468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D5E2D7"/>
                </a:solidFill>
                <a:latin typeface="Aptos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3090672"/>
            <a:ext cx="6263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https://shelfsense-food-waste.streamlit.app/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0916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C48638"/>
                </a:solidFill>
                <a:latin typeface="Aptos"/>
              </a:rPr>
              <a:t>Let's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38928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marshaauliaworks@gmail.com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15000"/>
            <a:ext cx="7132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D5E2D7"/>
                </a:solidFill>
                <a:latin typeface="Aptos"/>
              </a:rPr>
              <a:t>Portfolio project | Food waste prevention and dynamic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43891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8746C"/>
                </a:solidFill>
                <a:latin typeface="Aptos"/>
              </a:rPr>
              <a:t>ShelfSense  | 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68746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