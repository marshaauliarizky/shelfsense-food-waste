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2" Type="http://schemas.openxmlformats.org/officeDocument/2006/relationships/tableStyles" Target="tableStyles.xml"/><Relationship Id="rId11" Type="http://schemas.openxmlformats.org/officeDocument/2006/relationships/viewProps" Target="viewProps.xml"/><Relationship Id="rId10" Type="http://schemas.openxmlformats.org/officeDocument/2006/relationships/presProps" Target="presProps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helfsense-hero.png"/>
          <p:cNvPicPr>
            <a:picLocks noChangeAspect="1"/>
          </p:cNvPicPr>
          <p:nvPr/>
        </p:nvPicPr>
        <p:blipFill>
          <a:blip r:embed="rId1"/>
          <a:srcRect l="26944"/>
          <a:stretch>
            <a:fillRect/>
          </a:stretch>
        </p:blipFill>
        <p:spPr>
          <a:xfrm>
            <a:off x="5440680" y="0"/>
            <a:ext cx="4206240" cy="516636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00" y="0"/>
            <a:ext cx="3047695" cy="6858000"/>
          </a:xfrm>
          <a:prstGeom prst="rect">
            <a:avLst/>
          </a:prstGeom>
          <a:solidFill>
            <a:srgbClr val="2533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46920" y="960120"/>
            <a:ext cx="1920240" cy="105156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ptos"/>
              </a:rPr>
              <a:t>SHELF
SENSE</a:t>
            </a:r>
            <a:endParaRPr sz="3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646920" y="2331720"/>
            <a:ext cx="2011680" cy="6400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sz="1600" b="0">
                <a:solidFill>
                  <a:srgbClr val="D5E2D7"/>
                </a:solidFill>
                <a:latin typeface="Aptos"/>
              </a:rPr>
              <a:t>Food waste prevention
and markdown planning</a:t>
            </a:r>
            <a:endParaRPr sz="1600" b="0">
              <a:solidFill>
                <a:srgbClr val="D5E2D7"/>
              </a:solidFill>
              <a:latin typeface="Apto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8368" y="822960"/>
            <a:ext cx="3657600" cy="20116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sz="1200" b="1">
                <a:solidFill>
                  <a:srgbClr val="C48638"/>
                </a:solidFill>
                <a:latin typeface="Aptos"/>
              </a:rPr>
              <a:t>Portfolio case study</a:t>
            </a:r>
            <a:endParaRPr sz="1200" b="1">
              <a:solidFill>
                <a:srgbClr val="C48638"/>
              </a:solidFill>
              <a:latin typeface="Apto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4937760" cy="192024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sz="3400" b="1">
                <a:solidFill>
                  <a:srgbClr val="243029"/>
                </a:solidFill>
                <a:latin typeface="Aptos"/>
              </a:rPr>
              <a:t>What should sell,
what may spoil,
and what to do next</a:t>
            </a:r>
            <a:endParaRPr sz="3400" b="1">
              <a:solidFill>
                <a:srgbClr val="243029"/>
              </a:solidFill>
              <a:latin typeface="Apto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85800" y="3749039"/>
            <a:ext cx="4206240" cy="4114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sz="1600" b="0">
                <a:solidFill>
                  <a:srgbClr val="68746C"/>
                </a:solidFill>
                <a:latin typeface="Aptos"/>
              </a:rPr>
              <a:t>A practical Streamlit dashboard for bakery operations</a:t>
            </a:r>
            <a:endParaRPr sz="1600" b="0">
              <a:solidFill>
                <a:srgbClr val="68746C"/>
              </a:solidFill>
              <a:latin typeface="Apto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85800" y="5806440"/>
            <a:ext cx="4937760" cy="20116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sz="1100" b="0">
                <a:solidFill>
                  <a:srgbClr val="68746C"/>
                </a:solidFill>
                <a:latin typeface="Aptos"/>
              </a:rPr>
              <a:t>Built with Python, Pandas, SQLite, Plotly, and Streamlit</a:t>
            </a:r>
            <a:endParaRPr sz="1100" b="0">
              <a:solidFill>
                <a:srgbClr val="68746C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9509760" cy="38404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sz="2800" b="1">
                <a:solidFill>
                  <a:srgbClr val="243029"/>
                </a:solidFill>
                <a:latin typeface="Aptos"/>
              </a:rPr>
              <a:t>The operating problem</a:t>
            </a:r>
            <a:endParaRPr sz="2800" b="1">
              <a:solidFill>
                <a:srgbClr val="243029"/>
              </a:solidFill>
              <a:latin typeface="Apto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77824"/>
            <a:ext cx="9692640" cy="23774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sz="1300" b="0">
                <a:solidFill>
                  <a:srgbClr val="68746C"/>
                </a:solidFill>
                <a:latin typeface="Aptos"/>
              </a:rPr>
              <a:t>Perishable inventory creates a trade off between availability and waste</a:t>
            </a:r>
            <a:endParaRPr sz="1300" b="0">
              <a:solidFill>
                <a:srgbClr val="68746C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58368" y="1463040"/>
            <a:ext cx="4754880" cy="9601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sz="2000" b="0">
                <a:solidFill>
                  <a:srgbClr val="243029"/>
                </a:solidFill>
                <a:latin typeface="Aptos"/>
              </a:rPr>
              <a:t>Bakery teams need to make decisions before products expire. A useful tool has to show the evidence behind the decision, not only a final score.</a:t>
            </a:r>
            <a:endParaRPr sz="2000" b="0">
              <a:solidFill>
                <a:srgbClr val="243029"/>
              </a:solidFill>
              <a:latin typeface="Aptos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58495" y="2788920"/>
            <a:ext cx="2423160" cy="1908810"/>
          </a:xfrm>
          <a:prstGeom prst="roundRect">
            <a:avLst/>
          </a:prstGeom>
          <a:solidFill>
            <a:srgbClr val="EBF2EC"/>
          </a:solidFill>
          <a:ln w="10160">
            <a:solidFill>
              <a:srgbClr val="CBD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3063240"/>
            <a:ext cx="1920240" cy="2743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sz="1800" b="1">
                <a:solidFill>
                  <a:srgbClr val="243029"/>
                </a:solidFill>
                <a:latin typeface="Aptos"/>
              </a:rPr>
              <a:t>Too much production</a:t>
            </a:r>
            <a:endParaRPr sz="1800" b="1">
              <a:solidFill>
                <a:srgbClr val="243029"/>
              </a:solidFill>
              <a:latin typeface="Apto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96112" y="3766820"/>
            <a:ext cx="1783080" cy="45720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sz="1400" b="0">
                <a:solidFill>
                  <a:srgbClr val="68746C"/>
                </a:solidFill>
                <a:latin typeface="Aptos"/>
              </a:rPr>
              <a:t>Creates surplus stock
and higher waste risk</a:t>
            </a:r>
            <a:endParaRPr sz="1400" b="0">
              <a:solidFill>
                <a:srgbClr val="68746C"/>
              </a:solidFill>
              <a:latin typeface="Aptos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3401695" y="2788920"/>
            <a:ext cx="2423160" cy="1911985"/>
          </a:xfrm>
          <a:prstGeom prst="roundRect">
            <a:avLst/>
          </a:prstGeom>
          <a:solidFill>
            <a:srgbClr val="FFFAF0"/>
          </a:solidFill>
          <a:ln w="10160">
            <a:solidFill>
              <a:srgbClr val="E7D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39312" y="3063240"/>
            <a:ext cx="1920240" cy="2743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sz="1800" b="1">
                <a:solidFill>
                  <a:srgbClr val="243029"/>
                </a:solidFill>
                <a:latin typeface="Aptos"/>
              </a:rPr>
              <a:t>Too little production</a:t>
            </a:r>
            <a:endParaRPr sz="1800" b="1">
              <a:solidFill>
                <a:srgbClr val="243029"/>
              </a:solidFill>
              <a:latin typeface="Apto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639312" y="3766820"/>
            <a:ext cx="1783080" cy="45720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sz="1400" b="0">
                <a:solidFill>
                  <a:srgbClr val="68746C"/>
                </a:solidFill>
                <a:latin typeface="Aptos"/>
              </a:rPr>
              <a:t>Increases stockout risk
and missed sales</a:t>
            </a:r>
            <a:endParaRPr sz="1400" b="0">
              <a:solidFill>
                <a:srgbClr val="68746C"/>
              </a:solidFill>
              <a:latin typeface="Aptos"/>
            </a:endParaRPr>
          </a:p>
        </p:txBody>
      </p:sp>
      <p:pic>
        <p:nvPicPr>
          <p:cNvPr id="11" name="Picture 10" descr="bakery-product-boar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1508760"/>
            <a:ext cx="4160520" cy="28346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20840" y="4709160"/>
            <a:ext cx="4160520" cy="59436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sz="1500" b="0">
                <a:solidFill>
                  <a:srgbClr val="68746C"/>
                </a:solidFill>
                <a:latin typeface="Aptos"/>
              </a:rPr>
              <a:t>ShelfSense keeps the decision visible: production, sales, stock, expiry, waste, and markdown are read together.</a:t>
            </a:r>
            <a:endParaRPr sz="1500" b="0">
              <a:solidFill>
                <a:srgbClr val="68746C"/>
              </a:solidFill>
              <a:latin typeface="Apto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4389120" cy="14630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sz="800" b="0">
                <a:solidFill>
                  <a:srgbClr val="68746C"/>
                </a:solidFill>
                <a:latin typeface="Aptos"/>
              </a:rPr>
              <a:t>ShelfSense  |  Portfolio project</a:t>
            </a:r>
            <a:endParaRPr sz="800" b="0">
              <a:solidFill>
                <a:srgbClr val="68746C"/>
              </a:solidFill>
              <a:latin typeface="Apto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515600" y="6510528"/>
            <a:ext cx="457200" cy="14630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800" b="0">
                <a:solidFill>
                  <a:srgbClr val="68746C"/>
                </a:solidFill>
                <a:latin typeface="Aptos"/>
              </a:rPr>
              <a:t>02</a:t>
            </a:r>
            <a:endParaRPr sz="800" b="0">
              <a:solidFill>
                <a:srgbClr val="68746C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9509760" cy="38404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sz="2800" b="1">
                <a:solidFill>
                  <a:srgbClr val="243029"/>
                </a:solidFill>
                <a:latin typeface="Aptos"/>
              </a:rPr>
              <a:t>The dashboard in use</a:t>
            </a:r>
            <a:endParaRPr sz="2800" b="1">
              <a:solidFill>
                <a:srgbClr val="243029"/>
              </a:solidFill>
              <a:latin typeface="Apto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77824"/>
            <a:ext cx="9692640" cy="23774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sz="1300" b="0">
                <a:solidFill>
                  <a:srgbClr val="68746C"/>
                </a:solidFill>
                <a:latin typeface="Aptos"/>
              </a:rPr>
              <a:t>A manager starts with the current operational picture</a:t>
            </a:r>
            <a:endParaRPr sz="1300" b="0">
              <a:solidFill>
                <a:srgbClr val="68746C"/>
              </a:solidFill>
              <a:latin typeface="Aptos"/>
            </a:endParaRPr>
          </a:p>
        </p:txBody>
      </p:sp>
      <p:pic>
        <p:nvPicPr>
          <p:cNvPr id="4" name="Picture 3" descr="01_operation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25880"/>
            <a:ext cx="6492240" cy="4983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600200"/>
            <a:ext cx="3840480" cy="32004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sz="2000" b="1">
                <a:solidFill>
                  <a:srgbClr val="243029"/>
                </a:solidFill>
                <a:latin typeface="Aptos"/>
              </a:rPr>
              <a:t>The home screen answers three questions</a:t>
            </a:r>
            <a:endParaRPr sz="2000" b="1">
              <a:solidFill>
                <a:srgbClr val="243029"/>
              </a:solidFill>
              <a:latin typeface="Apto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360920" y="2148840"/>
            <a:ext cx="3657600" cy="16459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sz="1600" b="0">
                <a:solidFill>
                  <a:srgbClr val="243029"/>
                </a:solidFill>
                <a:latin typeface="Aptos"/>
              </a:rPr>
              <a:t>1  How much was produced and sold?
2  Where is waste moving?
3  Which product needs attention before expiry?</a:t>
            </a:r>
            <a:endParaRPr sz="1600" b="0">
              <a:solidFill>
                <a:srgbClr val="243029"/>
              </a:solidFill>
              <a:latin typeface="Apto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360920" y="4754880"/>
            <a:ext cx="3566160" cy="6400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sz="1500" b="0">
                <a:solidFill>
                  <a:srgbClr val="68746C"/>
                </a:solidFill>
                <a:latin typeface="Aptos"/>
              </a:rPr>
              <a:t>The Branch and As of filters keep the view grounded in a specific operating scope.</a:t>
            </a:r>
            <a:endParaRPr sz="1500" b="0">
              <a:solidFill>
                <a:srgbClr val="68746C"/>
              </a:solidFill>
              <a:latin typeface="Apto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4389120" cy="14630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sz="800" b="0">
                <a:solidFill>
                  <a:srgbClr val="68746C"/>
                </a:solidFill>
                <a:latin typeface="Aptos"/>
              </a:rPr>
              <a:t>ShelfSense  |  Portfolio project</a:t>
            </a:r>
            <a:endParaRPr sz="800" b="0">
              <a:solidFill>
                <a:srgbClr val="68746C"/>
              </a:solidFill>
              <a:latin typeface="Apto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515600" y="6510528"/>
            <a:ext cx="457200" cy="14630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800" b="0">
                <a:solidFill>
                  <a:srgbClr val="68746C"/>
                </a:solidFill>
                <a:latin typeface="Aptos"/>
              </a:rPr>
              <a:t>03</a:t>
            </a:r>
            <a:endParaRPr sz="800" b="0">
              <a:solidFill>
                <a:srgbClr val="68746C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225" y="657733"/>
            <a:ext cx="9509760" cy="38404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sz="2800" b="1">
                <a:solidFill>
                  <a:srgbClr val="243029"/>
                </a:solidFill>
                <a:latin typeface="Aptos"/>
              </a:rPr>
              <a:t>The analysis behind the screen</a:t>
            </a:r>
            <a:endParaRPr sz="2800" b="1">
              <a:solidFill>
                <a:srgbClr val="243029"/>
              </a:solidFill>
              <a:latin typeface="Apto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513" y="1151509"/>
            <a:ext cx="9692640" cy="23774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sz="1300" b="0">
                <a:solidFill>
                  <a:srgbClr val="68746C"/>
                </a:solidFill>
                <a:latin typeface="Aptos"/>
              </a:rPr>
              <a:t>Simple formulas keep the recommendations explainable</a:t>
            </a:r>
            <a:endParaRPr sz="1300" b="0">
              <a:solidFill>
                <a:srgbClr val="68746C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77240" y="1855978"/>
            <a:ext cx="2194560" cy="25603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sz="1800" b="1">
                <a:solidFill>
                  <a:srgbClr val="243029"/>
                </a:solidFill>
                <a:latin typeface="Aptos"/>
              </a:rPr>
              <a:t>Sold-through rate</a:t>
            </a:r>
            <a:endParaRPr sz="1800" b="1">
              <a:solidFill>
                <a:srgbClr val="243029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246120" y="1874266"/>
            <a:ext cx="3291840" cy="23774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sz="1600" b="0">
                <a:solidFill>
                  <a:srgbClr val="68746C"/>
                </a:solidFill>
                <a:latin typeface="Aptos"/>
              </a:rPr>
              <a:t>sold quantity / production quantity</a:t>
            </a:r>
            <a:endParaRPr sz="1600" b="0">
              <a:solidFill>
                <a:srgbClr val="68746C"/>
              </a:solidFill>
              <a:latin typeface="Apto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12648" y="2358898"/>
            <a:ext cx="6035040" cy="9144"/>
          </a:xfrm>
          <a:prstGeom prst="rect">
            <a:avLst/>
          </a:prstGeom>
          <a:solidFill>
            <a:srgbClr val="E0E0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770378"/>
            <a:ext cx="2194560" cy="25603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sz="1800" b="1">
                <a:solidFill>
                  <a:srgbClr val="243029"/>
                </a:solidFill>
                <a:latin typeface="Aptos"/>
              </a:rPr>
              <a:t>Waste rate</a:t>
            </a:r>
            <a:endParaRPr sz="1800" b="1">
              <a:solidFill>
                <a:srgbClr val="243029"/>
              </a:solidFill>
              <a:latin typeface="Apto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246120" y="2674366"/>
            <a:ext cx="3291840" cy="23774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sz="1600" b="0">
                <a:solidFill>
                  <a:srgbClr val="68746C"/>
                </a:solidFill>
                <a:latin typeface="Aptos"/>
              </a:rPr>
              <a:t>waste quantity / production quantity</a:t>
            </a:r>
            <a:endParaRPr sz="1600" b="0">
              <a:solidFill>
                <a:srgbClr val="68746C"/>
              </a:solidFill>
              <a:latin typeface="Apto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12648" y="3273297"/>
            <a:ext cx="6035040" cy="9144"/>
          </a:xfrm>
          <a:prstGeom prst="rect">
            <a:avLst/>
          </a:prstGeom>
          <a:solidFill>
            <a:srgbClr val="E0E0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684778"/>
            <a:ext cx="2194560" cy="25603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sz="1800" b="1">
                <a:solidFill>
                  <a:srgbClr val="243029"/>
                </a:solidFill>
                <a:latin typeface="Aptos"/>
              </a:rPr>
              <a:t>Estimated loss</a:t>
            </a:r>
            <a:endParaRPr sz="1800" b="1">
              <a:solidFill>
                <a:srgbClr val="243029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246120" y="3830701"/>
            <a:ext cx="3291840" cy="23774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sz="1600" b="0">
                <a:solidFill>
                  <a:srgbClr val="68746C"/>
                </a:solidFill>
                <a:latin typeface="Aptos"/>
              </a:rPr>
              <a:t>waste quantity × unit cost</a:t>
            </a:r>
            <a:endParaRPr sz="1600" b="0">
              <a:solidFill>
                <a:srgbClr val="68746C"/>
              </a:solidFill>
              <a:latin typeface="Apto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12648" y="4187697"/>
            <a:ext cx="6035040" cy="9144"/>
          </a:xfrm>
          <a:prstGeom prst="rect">
            <a:avLst/>
          </a:prstGeom>
          <a:solidFill>
            <a:srgbClr val="E0E0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599178"/>
            <a:ext cx="2194560" cy="25603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sz="1800" b="1">
                <a:solidFill>
                  <a:srgbClr val="243029"/>
                </a:solidFill>
                <a:latin typeface="Aptos"/>
              </a:rPr>
              <a:t>Stock gap</a:t>
            </a:r>
            <a:endParaRPr sz="1800" b="1">
              <a:solidFill>
                <a:srgbClr val="243029"/>
              </a:solidFill>
              <a:latin typeface="Apto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246120" y="4733670"/>
            <a:ext cx="3291840" cy="23774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sz="1600" b="0">
                <a:solidFill>
                  <a:srgbClr val="68746C"/>
                </a:solidFill>
                <a:latin typeface="Aptos"/>
              </a:rPr>
              <a:t>current stock − demand baseline</a:t>
            </a:r>
            <a:endParaRPr sz="1600" b="0">
              <a:solidFill>
                <a:srgbClr val="68746C"/>
              </a:solidFill>
              <a:latin typeface="Aptos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12648" y="5102098"/>
            <a:ext cx="6035040" cy="9144"/>
          </a:xfrm>
          <a:prstGeom prst="rect">
            <a:avLst/>
          </a:prstGeom>
          <a:solidFill>
            <a:srgbClr val="E0E0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art-sales-wast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3090" y="932180"/>
            <a:ext cx="4391660" cy="2789555"/>
          </a:xfrm>
          <a:prstGeom prst="rect">
            <a:avLst/>
          </a:prstGeom>
        </p:spPr>
      </p:pic>
      <p:pic>
        <p:nvPicPr>
          <p:cNvPr id="17" name="Picture 16" descr="chart-waste-reas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3090" y="3848735"/>
            <a:ext cx="4492625" cy="285369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8640" y="6510528"/>
            <a:ext cx="4389120" cy="14630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sz="800" b="0">
                <a:solidFill>
                  <a:srgbClr val="68746C"/>
                </a:solidFill>
                <a:latin typeface="Aptos"/>
              </a:rPr>
              <a:t>ShelfSense  |  Portfolio project</a:t>
            </a:r>
            <a:endParaRPr sz="800" b="0">
              <a:solidFill>
                <a:srgbClr val="68746C"/>
              </a:solidFill>
              <a:latin typeface="Apto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515600" y="6510528"/>
            <a:ext cx="457200" cy="14630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800" b="0">
                <a:solidFill>
                  <a:srgbClr val="68746C"/>
                </a:solidFill>
                <a:latin typeface="Aptos"/>
              </a:rPr>
              <a:t>04</a:t>
            </a:r>
            <a:endParaRPr sz="800" b="0">
              <a:solidFill>
                <a:srgbClr val="68746C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9509760" cy="38404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sz="2800" b="1">
                <a:solidFill>
                  <a:srgbClr val="243029"/>
                </a:solidFill>
                <a:latin typeface="Aptos"/>
              </a:rPr>
              <a:t>From transaction to recommendation</a:t>
            </a:r>
            <a:endParaRPr sz="2800" b="1">
              <a:solidFill>
                <a:srgbClr val="243029"/>
              </a:solidFill>
              <a:latin typeface="Apto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77824"/>
            <a:ext cx="9692640" cy="23774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sz="1300" b="0">
                <a:solidFill>
                  <a:srgbClr val="68746C"/>
                </a:solidFill>
                <a:latin typeface="Aptos"/>
              </a:rPr>
              <a:t>The pipeline keeps data, rules, and presentation separate</a:t>
            </a:r>
            <a:endParaRPr sz="1300" b="0">
              <a:solidFill>
                <a:srgbClr val="68746C"/>
              </a:solidFill>
              <a:latin typeface="Aptos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594360" y="2331720"/>
            <a:ext cx="1627632" cy="14630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0E0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" y="2523744"/>
            <a:ext cx="411480" cy="20116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sz="1200" b="1">
                <a:solidFill>
                  <a:srgbClr val="C48638"/>
                </a:solidFill>
                <a:latin typeface="Aptos"/>
              </a:rPr>
              <a:t>01</a:t>
            </a:r>
            <a:endParaRPr sz="1200" b="1">
              <a:solidFill>
                <a:srgbClr val="C48638"/>
              </a:solidFill>
              <a:latin typeface="Apto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58952" y="2907792"/>
            <a:ext cx="1280160" cy="25603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sz="1700" b="1">
                <a:solidFill>
                  <a:srgbClr val="243029"/>
                </a:solidFill>
                <a:latin typeface="Aptos"/>
              </a:rPr>
              <a:t>Excel</a:t>
            </a:r>
            <a:endParaRPr sz="1700" b="1">
              <a:solidFill>
                <a:srgbClr val="243029"/>
              </a:solidFill>
              <a:latin typeface="Apto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76732" y="3269107"/>
            <a:ext cx="1280160" cy="32004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sz="1200" b="0">
                <a:solidFill>
                  <a:srgbClr val="68746C"/>
                </a:solidFill>
                <a:latin typeface="Aptos"/>
              </a:rPr>
              <a:t>Incoming transactions</a:t>
            </a:r>
            <a:endParaRPr sz="1200" b="0">
              <a:solidFill>
                <a:srgbClr val="68746C"/>
              </a:solidFill>
              <a:latin typeface="Aptos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2496312" y="2331720"/>
            <a:ext cx="1627632" cy="14630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0E0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60904" y="2523744"/>
            <a:ext cx="411480" cy="20116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sz="1200" b="1">
                <a:solidFill>
                  <a:srgbClr val="C48638"/>
                </a:solidFill>
                <a:latin typeface="Aptos"/>
              </a:rPr>
              <a:t>02</a:t>
            </a:r>
            <a:endParaRPr sz="1200" b="1">
              <a:solidFill>
                <a:srgbClr val="C48638"/>
              </a:solidFill>
              <a:latin typeface="Apto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660904" y="2907792"/>
            <a:ext cx="1280160" cy="25603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sz="1700" b="1">
                <a:solidFill>
                  <a:srgbClr val="243029"/>
                </a:solidFill>
                <a:latin typeface="Aptos"/>
              </a:rPr>
              <a:t>Validation</a:t>
            </a:r>
            <a:endParaRPr sz="1700" b="1">
              <a:solidFill>
                <a:srgbClr val="243029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660904" y="3364992"/>
            <a:ext cx="1280160" cy="32004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sz="1200" b="0">
                <a:solidFill>
                  <a:srgbClr val="68746C"/>
                </a:solidFill>
                <a:latin typeface="Aptos"/>
              </a:rPr>
              <a:t>Clean rows only</a:t>
            </a:r>
            <a:endParaRPr sz="1200" b="0">
              <a:solidFill>
                <a:srgbClr val="68746C"/>
              </a:solidFill>
              <a:latin typeface="Aptos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4398264" y="2331720"/>
            <a:ext cx="1627632" cy="14630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0E0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2856" y="2523744"/>
            <a:ext cx="411480" cy="20116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sz="1200" b="1">
                <a:solidFill>
                  <a:srgbClr val="C48638"/>
                </a:solidFill>
                <a:latin typeface="Aptos"/>
              </a:rPr>
              <a:t>03</a:t>
            </a:r>
            <a:endParaRPr sz="1200" b="1">
              <a:solidFill>
                <a:srgbClr val="C48638"/>
              </a:solidFill>
              <a:latin typeface="Apto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562856" y="2907792"/>
            <a:ext cx="1280160" cy="25603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sz="1700" b="1">
                <a:solidFill>
                  <a:srgbClr val="243029"/>
                </a:solidFill>
                <a:latin typeface="Aptos"/>
              </a:rPr>
              <a:t>SQLite</a:t>
            </a:r>
            <a:endParaRPr sz="1700" b="1">
              <a:solidFill>
                <a:srgbClr val="243029"/>
              </a:solidFill>
              <a:latin typeface="Apto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571746" y="3269107"/>
            <a:ext cx="1280160" cy="32004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sz="1200" b="0">
                <a:solidFill>
                  <a:srgbClr val="68746C"/>
                </a:solidFill>
                <a:latin typeface="Aptos"/>
              </a:rPr>
              <a:t>Local source of truth</a:t>
            </a:r>
            <a:endParaRPr sz="1200" b="0">
              <a:solidFill>
                <a:srgbClr val="68746C"/>
              </a:solidFill>
              <a:latin typeface="Aptos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300216" y="2331720"/>
            <a:ext cx="1627632" cy="14630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0E0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4808" y="2523744"/>
            <a:ext cx="411480" cy="20116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sz="1200" b="1">
                <a:solidFill>
                  <a:srgbClr val="C48638"/>
                </a:solidFill>
                <a:latin typeface="Aptos"/>
              </a:rPr>
              <a:t>04</a:t>
            </a:r>
            <a:endParaRPr sz="1200" b="1">
              <a:solidFill>
                <a:srgbClr val="C48638"/>
              </a:solidFill>
              <a:latin typeface="Apto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464808" y="2907792"/>
            <a:ext cx="1280160" cy="25603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sz="1700" b="1">
                <a:solidFill>
                  <a:srgbClr val="243029"/>
                </a:solidFill>
                <a:latin typeface="Aptos"/>
              </a:rPr>
              <a:t>Analytics</a:t>
            </a:r>
            <a:endParaRPr sz="1700" b="1">
              <a:solidFill>
                <a:srgbClr val="243029"/>
              </a:solidFill>
              <a:latin typeface="Apto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483223" y="3269107"/>
            <a:ext cx="1280160" cy="32004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sz="1200" b="0">
                <a:solidFill>
                  <a:srgbClr val="68746C"/>
                </a:solidFill>
                <a:latin typeface="Aptos"/>
              </a:rPr>
              <a:t>KPI and demand baseline</a:t>
            </a:r>
            <a:endParaRPr sz="1200" b="0">
              <a:solidFill>
                <a:srgbClr val="68746C"/>
              </a:solidFill>
              <a:latin typeface="Aptos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8202168" y="2331720"/>
            <a:ext cx="1627632" cy="14630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0E0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60" y="2523744"/>
            <a:ext cx="411480" cy="20116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sz="1200" b="1">
                <a:solidFill>
                  <a:srgbClr val="C48638"/>
                </a:solidFill>
                <a:latin typeface="Aptos"/>
              </a:rPr>
              <a:t>05</a:t>
            </a:r>
            <a:endParaRPr sz="1200" b="1">
              <a:solidFill>
                <a:srgbClr val="C48638"/>
              </a:solidFill>
              <a:latin typeface="Apto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366760" y="2777490"/>
            <a:ext cx="1605915" cy="558165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sz="1700" b="1">
                <a:solidFill>
                  <a:srgbClr val="243029"/>
                </a:solidFill>
                <a:latin typeface="Aptos"/>
              </a:rPr>
              <a:t>Decision</a:t>
            </a:r>
            <a:r>
              <a:rPr lang="en-US" sz="1700" b="1">
                <a:solidFill>
                  <a:srgbClr val="243029"/>
                </a:solidFill>
                <a:latin typeface="Aptos"/>
              </a:rPr>
              <a:t> </a:t>
            </a:r>
            <a:r>
              <a:rPr sz="1700" b="1">
                <a:solidFill>
                  <a:srgbClr val="243029"/>
                </a:solidFill>
                <a:latin typeface="Aptos"/>
              </a:rPr>
              <a:t>engine</a:t>
            </a:r>
            <a:endParaRPr sz="1700" b="1">
              <a:solidFill>
                <a:srgbClr val="243029"/>
              </a:solidFill>
              <a:latin typeface="Aptos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367395" y="3335782"/>
            <a:ext cx="1280160" cy="32004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sz="1200" b="0">
                <a:solidFill>
                  <a:srgbClr val="68746C"/>
                </a:solidFill>
                <a:latin typeface="Aptos"/>
              </a:rPr>
              <a:t>Markdown and production rules</a:t>
            </a:r>
            <a:endParaRPr sz="1200" b="0">
              <a:solidFill>
                <a:srgbClr val="68746C"/>
              </a:solidFill>
              <a:latin typeface="Aptos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10104120" y="2331720"/>
            <a:ext cx="1627632" cy="14630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0E0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8712" y="2523744"/>
            <a:ext cx="411480" cy="20116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sz="1200" b="1">
                <a:solidFill>
                  <a:srgbClr val="C48638"/>
                </a:solidFill>
                <a:latin typeface="Aptos"/>
              </a:rPr>
              <a:t>06</a:t>
            </a:r>
            <a:endParaRPr sz="1200" b="1">
              <a:solidFill>
                <a:srgbClr val="C48638"/>
              </a:solidFill>
              <a:latin typeface="Apto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0268712" y="2907792"/>
            <a:ext cx="1280160" cy="25603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sz="1700" b="1">
                <a:solidFill>
                  <a:srgbClr val="243029"/>
                </a:solidFill>
                <a:latin typeface="Aptos"/>
              </a:rPr>
              <a:t>Dashboard</a:t>
            </a:r>
            <a:endParaRPr sz="1700" b="1">
              <a:solidFill>
                <a:srgbClr val="243029"/>
              </a:solidFill>
              <a:latin typeface="Aptos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0268712" y="3269107"/>
            <a:ext cx="1280160" cy="32004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sz="1200" b="0">
                <a:solidFill>
                  <a:srgbClr val="68746C"/>
                </a:solidFill>
                <a:latin typeface="Aptos"/>
              </a:rPr>
              <a:t>Manager view and notes</a:t>
            </a:r>
            <a:endParaRPr sz="1200" b="0">
              <a:solidFill>
                <a:srgbClr val="68746C"/>
              </a:solidFill>
              <a:latin typeface="Apto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914400" y="4892040"/>
            <a:ext cx="10241280" cy="6400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1700" b="0">
                <a:solidFill>
                  <a:srgbClr val="68746C"/>
                </a:solidFill>
                <a:latin typeface="Aptos"/>
              </a:rPr>
              <a:t>This separation makes the project easier to test and extend. A rule can change without rewriting the interface, and the interface can evolve without changing the database schema.</a:t>
            </a:r>
            <a:endParaRPr sz="1700" b="0">
              <a:solidFill>
                <a:srgbClr val="68746C"/>
              </a:solidFill>
              <a:latin typeface="Aptos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48640" y="6510528"/>
            <a:ext cx="4389120" cy="14630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sz="800" b="0">
                <a:solidFill>
                  <a:srgbClr val="68746C"/>
                </a:solidFill>
                <a:latin typeface="Aptos"/>
              </a:rPr>
              <a:t>ShelfSense  |  Portfolio project</a:t>
            </a:r>
            <a:endParaRPr sz="800" b="0">
              <a:solidFill>
                <a:srgbClr val="68746C"/>
              </a:solidFill>
              <a:latin typeface="Apto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10515600" y="6510528"/>
            <a:ext cx="457200" cy="14630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800" b="0">
                <a:solidFill>
                  <a:srgbClr val="68746C"/>
                </a:solidFill>
                <a:latin typeface="Aptos"/>
              </a:rPr>
              <a:t>05</a:t>
            </a:r>
            <a:endParaRPr sz="800" b="0">
              <a:solidFill>
                <a:srgbClr val="68746C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11810" y="1056513"/>
            <a:ext cx="9509760" cy="38404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sz="2800" b="1">
                <a:solidFill>
                  <a:srgbClr val="243029"/>
                </a:solidFill>
                <a:latin typeface="Aptos"/>
              </a:rPr>
              <a:t>Excel upload and auditability</a:t>
            </a:r>
            <a:endParaRPr sz="2800" b="1">
              <a:solidFill>
                <a:srgbClr val="243029"/>
              </a:solidFill>
              <a:latin typeface="Apto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30098" y="1550289"/>
            <a:ext cx="9692640" cy="23774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sz="1300" b="0">
                <a:solidFill>
                  <a:srgbClr val="68746C"/>
                </a:solidFill>
                <a:latin typeface="Aptos"/>
              </a:rPr>
              <a:t>The upload flow is part of the product, not an afterthought</a:t>
            </a:r>
            <a:endParaRPr sz="1300" b="0">
              <a:solidFill>
                <a:srgbClr val="68746C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233" y="2120265"/>
            <a:ext cx="5303520" cy="36576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sz="2000" b="1">
                <a:solidFill>
                  <a:srgbClr val="243029"/>
                </a:solidFill>
                <a:latin typeface="Aptos"/>
              </a:rPr>
              <a:t>A new workbook is checked before it can change the dashboard.</a:t>
            </a:r>
            <a:endParaRPr sz="2000" b="1">
              <a:solidFill>
                <a:srgbClr val="243029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94233" y="2793365"/>
            <a:ext cx="5212080" cy="100584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sz="1700" b="0">
                <a:solidFill>
                  <a:srgbClr val="68746C"/>
                </a:solidFill>
                <a:latin typeface="Aptos"/>
              </a:rPr>
              <a:t>The system checks required columns, dates, numeric values, negative quantities, duplicate transaction IDs, discount ranges, and production limits.</a:t>
            </a:r>
            <a:endParaRPr sz="1700" b="0">
              <a:solidFill>
                <a:srgbClr val="68746C"/>
              </a:solidFill>
              <a:latin typeface="Aptos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94233" y="4106545"/>
            <a:ext cx="4983480" cy="1005840"/>
          </a:xfrm>
          <a:prstGeom prst="roundRect">
            <a:avLst/>
          </a:prstGeom>
          <a:solidFill>
            <a:srgbClr val="EBF2EC"/>
          </a:solidFill>
          <a:ln w="10160">
            <a:solidFill>
              <a:srgbClr val="CBD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265" y="4248150"/>
            <a:ext cx="4191000" cy="32766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sz="1900" b="1">
                <a:solidFill>
                  <a:srgbClr val="243029"/>
                </a:solidFill>
                <a:latin typeface="Aptos"/>
              </a:rPr>
              <a:t>Only valid rows are inserted</a:t>
            </a:r>
            <a:endParaRPr sz="1900" b="1">
              <a:solidFill>
                <a:srgbClr val="243029"/>
              </a:solidFill>
              <a:latin typeface="Apto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50265" y="4709795"/>
            <a:ext cx="4389120" cy="266065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sz="1500" b="0">
                <a:solidFill>
                  <a:srgbClr val="68746C"/>
                </a:solidFill>
                <a:latin typeface="Aptos"/>
              </a:rPr>
              <a:t>The dashboard then refreshes from SQLite.</a:t>
            </a:r>
            <a:endParaRPr sz="1500" b="0">
              <a:solidFill>
                <a:srgbClr val="68746C"/>
              </a:solidFill>
              <a:latin typeface="Aptos"/>
            </a:endParaRPr>
          </a:p>
        </p:txBody>
      </p:sp>
      <p:pic>
        <p:nvPicPr>
          <p:cNvPr id="9" name="Picture 8" descr="import_data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325880"/>
            <a:ext cx="4800600" cy="4617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510528"/>
            <a:ext cx="4389120" cy="14630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sz="800" b="0">
                <a:solidFill>
                  <a:srgbClr val="68746C"/>
                </a:solidFill>
                <a:latin typeface="Aptos"/>
              </a:rPr>
              <a:t>ShelfSense  |  Portfolio project</a:t>
            </a:r>
            <a:endParaRPr sz="800" b="0">
              <a:solidFill>
                <a:srgbClr val="68746C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515600" y="6510528"/>
            <a:ext cx="457200" cy="14630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800" b="0">
                <a:solidFill>
                  <a:srgbClr val="68746C"/>
                </a:solidFill>
                <a:latin typeface="Aptos"/>
              </a:rPr>
              <a:t>06</a:t>
            </a:r>
            <a:endParaRPr sz="800" b="0">
              <a:solidFill>
                <a:srgbClr val="68746C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3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58368"/>
            <a:ext cx="7498079" cy="5029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ptos"/>
              </a:rPr>
              <a:t>What this project demonstrates</a:t>
            </a:r>
            <a:endParaRPr sz="30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13232" y="1261872"/>
            <a:ext cx="7680960" cy="2743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sz="1600" b="0">
                <a:solidFill>
                  <a:srgbClr val="D5E2D7"/>
                </a:solidFill>
                <a:latin typeface="Aptos"/>
              </a:rPr>
              <a:t>A portfolio project should show judgment as well as implementation.</a:t>
            </a:r>
            <a:endParaRPr sz="1600" b="0">
              <a:solidFill>
                <a:srgbClr val="D5E2D7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2331720"/>
            <a:ext cx="2743200" cy="128016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ptos"/>
              </a:rPr>
              <a:t>DATA
Simulated data with clear assumptions and validation</a:t>
            </a:r>
            <a:endParaRPr sz="19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0" y="2331720"/>
            <a:ext cx="2834640" cy="128016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ptos"/>
              </a:rPr>
              <a:t>DECISIONS
Explainable rules connect metrics to manager actions</a:t>
            </a:r>
            <a:endParaRPr sz="19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229600" y="2331720"/>
            <a:ext cx="2834640" cy="14173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ptos"/>
              </a:rPr>
              <a:t>DELIVERY
A usable dashboard, exportable workbook, tests, and documentation</a:t>
            </a:r>
            <a:endParaRPr sz="19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14400" y="4983480"/>
            <a:ext cx="10241280" cy="65836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1600" b="0">
                <a:solidFill>
                  <a:srgbClr val="D5E2D7"/>
                </a:solidFill>
                <a:latin typeface="Aptos"/>
              </a:rPr>
              <a:t>Current scope: local MVP with SQLite and a moving average baseline. The next production steps are authenticated access, a managed database, validated forecasting, and deployment.</a:t>
            </a:r>
            <a:endParaRPr sz="1600" b="0">
              <a:solidFill>
                <a:srgbClr val="D5E2D7"/>
              </a:solidFill>
              <a:latin typeface="Apto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4389120" cy="14630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sz="800" b="0">
                <a:solidFill>
                  <a:srgbClr val="68746C"/>
                </a:solidFill>
                <a:latin typeface="Aptos"/>
              </a:rPr>
              <a:t>ShelfSense  |  Portfolio project</a:t>
            </a:r>
            <a:endParaRPr sz="800" b="0">
              <a:solidFill>
                <a:srgbClr val="68746C"/>
              </a:solidFill>
              <a:latin typeface="Apto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515600" y="6510528"/>
            <a:ext cx="457200" cy="14630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/>
            <a:r>
              <a:rPr sz="800" b="0">
                <a:solidFill>
                  <a:srgbClr val="68746C"/>
                </a:solidFill>
                <a:latin typeface="Aptos"/>
              </a:rPr>
              <a:t>07</a:t>
            </a:r>
            <a:endParaRPr sz="800" b="0">
              <a:solidFill>
                <a:srgbClr val="68746C"/>
              </a:solidFill>
              <a:latin typeface="Apto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2774</Words>
  <Application>WPS Presentation</Application>
  <PresentationFormat>On-screen Show (4:3)</PresentationFormat>
  <Paragraphs>148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7" baseType="lpstr">
      <vt:lpstr>Arial</vt:lpstr>
      <vt:lpstr>SimSun</vt:lpstr>
      <vt:lpstr>Wingdings</vt:lpstr>
      <vt:lpstr>Arial</vt:lpstr>
      <vt:lpstr>Aptos</vt:lpstr>
      <vt:lpstr>Segoe UI</vt:lpstr>
      <vt:lpstr>Calibri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Tri Sita</cp:lastModifiedBy>
  <cp:revision>2</cp:revision>
  <dcterms:created xsi:type="dcterms:W3CDTF">2013-01-27T09:14:00Z</dcterms:created>
  <dcterms:modified xsi:type="dcterms:W3CDTF">2026-09-22T09:55:07Z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37EBC016FC714D058A4026B07DA9A1FD_12</vt:lpwstr>
  </property>
  <property fmtid="{D5CDD505-2E9C-101B-9397-08002B2CF9AE}" pid="3" name="KSOProductBuildVer">
    <vt:lpwstr>1033-12.1.0.28485</vt:lpwstr>
  </property>
</Properties>
</file>